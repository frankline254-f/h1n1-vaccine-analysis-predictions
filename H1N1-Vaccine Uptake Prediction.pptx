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660"/>
  </p:normalViewPr>
  <p:slideViewPr>
    <p:cSldViewPr snapToGrid="0">
      <p:cViewPr varScale="1">
        <p:scale>
          <a:sx n="84" d="100"/>
          <a:sy n="84" d="100"/>
        </p:scale>
        <p:origin x="9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8571E83-F859-4411-A2B0-21381CC113D1}" type="datetimeFigureOut">
              <a:rPr lang="en-GB" smtClean="0"/>
              <a:t>17/03/2026</a:t>
            </a:fld>
            <a:endParaRPr lang="en-GB"/>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GB"/>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11295118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8571E83-F859-4411-A2B0-21381CC113D1}" type="datetimeFigureOut">
              <a:rPr lang="en-GB" smtClean="0"/>
              <a:t>17/03/2026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17926300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571E83-F859-4411-A2B0-21381CC113D1}" type="datetimeFigureOut">
              <a:rPr lang="en-GB" smtClean="0"/>
              <a:t>17/03/2026</a:t>
            </a:fld>
            <a:endParaRPr lang="en-GB"/>
          </a:p>
        </p:txBody>
      </p:sp>
      <p:sp>
        <p:nvSpPr>
          <p:cNvPr id="5" name="Footer Placeholder 4"/>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3967850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571E83-F859-4411-A2B0-21381CC113D1}" type="datetimeFigureOut">
              <a:rPr lang="en-GB" smtClean="0"/>
              <a:t>17/03/2026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3702438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8571E83-F859-4411-A2B0-21381CC113D1}" type="datetimeFigureOut">
              <a:rPr lang="en-GB" smtClean="0"/>
              <a:t>17/03/2026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2990770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8571E83-F859-4411-A2B0-21381CC113D1}" type="datetimeFigureOut">
              <a:rPr lang="en-GB" smtClean="0"/>
              <a:t>17/03/2026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4196971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571E83-F859-4411-A2B0-21381CC113D1}" type="datetimeFigureOut">
              <a:rPr lang="en-GB" smtClean="0"/>
              <a:t>17/03/2026</a:t>
            </a:fld>
            <a:endParaRPr lang="en-GB"/>
          </a:p>
        </p:txBody>
      </p:sp>
      <p:sp>
        <p:nvSpPr>
          <p:cNvPr id="3" name="Footer Placeholder 2"/>
          <p:cNvSpPr>
            <a:spLocks noGrp="1"/>
          </p:cNvSpPr>
          <p:nvPr>
            <p:ph type="ftr" sz="quarter" idx="11"/>
          </p:nvPr>
        </p:nvSpPr>
        <p:spPr/>
        <p:txBody>
          <a:bodyPr/>
          <a:lstStyle/>
          <a:p>
            <a:endParaRPr lang="en-GB"/>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1145956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571E83-F859-4411-A2B0-21381CC113D1}" type="datetimeFigureOut">
              <a:rPr lang="en-GB" smtClean="0"/>
              <a:t>17/03/2026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3475808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571E83-F859-4411-A2B0-21381CC113D1}" type="datetimeFigureOut">
              <a:rPr lang="en-GB" smtClean="0"/>
              <a:t>17/03/2026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7712482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8571E83-F859-4411-A2B0-21381CC113D1}" type="datetimeFigureOut">
              <a:rPr lang="en-GB" smtClean="0"/>
              <a:t>17/03/2026</a:t>
            </a:fld>
            <a:endParaRPr lang="en-GB"/>
          </a:p>
        </p:txBody>
      </p:sp>
      <p:sp>
        <p:nvSpPr>
          <p:cNvPr id="6" name="Footer Placeholder 5"/>
          <p:cNvSpPr>
            <a:spLocks noGrp="1"/>
          </p:cNvSpPr>
          <p:nvPr>
            <p:ph type="ftr" sz="quarter" idx="11"/>
          </p:nvPr>
        </p:nvSpPr>
        <p:spPr/>
        <p:txBody>
          <a:bodyPr/>
          <a:lstStyle/>
          <a:p>
            <a:endParaRPr lang="en-GB"/>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2264178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8571E83-F859-4411-A2B0-21381CC113D1}" type="datetimeFigureOut">
              <a:rPr lang="en-GB" smtClean="0"/>
              <a:t>17/03/2026</a:t>
            </a:fld>
            <a:endParaRPr lang="en-GB"/>
          </a:p>
        </p:txBody>
      </p:sp>
      <p:sp>
        <p:nvSpPr>
          <p:cNvPr id="5" name="Footer Placeholder 4"/>
          <p:cNvSpPr>
            <a:spLocks noGrp="1"/>
          </p:cNvSpPr>
          <p:nvPr>
            <p:ph type="ftr" sz="quarter" idx="11"/>
          </p:nvPr>
        </p:nvSpPr>
        <p:spPr/>
        <p:txBody>
          <a:bodyPr/>
          <a:lstStyle/>
          <a:p>
            <a:endParaRPr lang="en-GB"/>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41070081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8571E83-F859-4411-A2B0-21381CC113D1}" type="datetimeFigureOut">
              <a:rPr lang="en-GB" smtClean="0"/>
              <a:t>17/03/2026</a:t>
            </a:fld>
            <a:endParaRPr lang="en-GB"/>
          </a:p>
        </p:txBody>
      </p:sp>
      <p:sp>
        <p:nvSpPr>
          <p:cNvPr id="5" name="Footer Placeholder 4"/>
          <p:cNvSpPr>
            <a:spLocks noGrp="1"/>
          </p:cNvSpPr>
          <p:nvPr>
            <p:ph type="ftr" sz="quarter" idx="11"/>
          </p:nvPr>
        </p:nvSpPr>
        <p:spPr/>
        <p:txBody>
          <a:bodyPr/>
          <a:lstStyle/>
          <a:p>
            <a:endParaRPr lang="en-GB"/>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73343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8571E83-F859-4411-A2B0-21381CC113D1}" type="datetimeFigureOut">
              <a:rPr lang="en-GB" smtClean="0"/>
              <a:t>17/03/2026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25048060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8571E83-F859-4411-A2B0-21381CC113D1}" type="datetimeFigureOut">
              <a:rPr lang="en-GB" smtClean="0"/>
              <a:t>17/03/2026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1456673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8571E83-F859-4411-A2B0-21381CC113D1}" type="datetimeFigureOut">
              <a:rPr lang="en-GB" smtClean="0"/>
              <a:t>17/03/2026</a:t>
            </a:fld>
            <a:endParaRPr lang="en-GB"/>
          </a:p>
        </p:txBody>
      </p:sp>
      <p:sp>
        <p:nvSpPr>
          <p:cNvPr id="8" name="Footer Placeholder 7"/>
          <p:cNvSpPr>
            <a:spLocks noGrp="1"/>
          </p:cNvSpPr>
          <p:nvPr>
            <p:ph type="ftr" sz="quarter" idx="11"/>
          </p:nvPr>
        </p:nvSpPr>
        <p:spPr>
          <a:xfrm>
            <a:off x="561111" y="6391838"/>
            <a:ext cx="3644282" cy="304801"/>
          </a:xfrm>
        </p:spPr>
        <p:txBody>
          <a:bodyPr/>
          <a:lstStyle/>
          <a:p>
            <a:endParaRPr lang="en-GB"/>
          </a:p>
        </p:txBody>
      </p:sp>
      <p:sp>
        <p:nvSpPr>
          <p:cNvPr id="9" name="Slide Number Placeholder 8"/>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7432457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8571E83-F859-4411-A2B0-21381CC113D1}" type="datetimeFigureOut">
              <a:rPr lang="en-GB" smtClean="0"/>
              <a:t>17/03/2026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3595311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8571E83-F859-4411-A2B0-21381CC113D1}" type="datetimeFigureOut">
              <a:rPr lang="en-GB" smtClean="0"/>
              <a:t>17/03/2026</a:t>
            </a:fld>
            <a:endParaRPr lang="en-GB"/>
          </a:p>
        </p:txBody>
      </p:sp>
      <p:sp>
        <p:nvSpPr>
          <p:cNvPr id="5" name="Footer Placeholder 4"/>
          <p:cNvSpPr>
            <a:spLocks noGrp="1"/>
          </p:cNvSpPr>
          <p:nvPr>
            <p:ph type="ftr" sz="quarter" idx="11"/>
          </p:nvPr>
        </p:nvSpPr>
        <p:spPr/>
        <p:txBody>
          <a:bodyPr/>
          <a:lstStyle/>
          <a:p>
            <a:endParaRPr lang="en-GB"/>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BD399B2-DF90-47C9-8B23-32B79EB8B41C}" type="slidenum">
              <a:rPr lang="en-GB" smtClean="0"/>
              <a:t>‹#›</a:t>
            </a:fld>
            <a:endParaRPr lang="en-GB"/>
          </a:p>
        </p:txBody>
      </p:sp>
    </p:spTree>
    <p:extLst>
      <p:ext uri="{BB962C8B-B14F-4D97-AF65-F5344CB8AC3E}">
        <p14:creationId xmlns:p14="http://schemas.microsoft.com/office/powerpoint/2010/main" val="1330000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8571E83-F859-4411-A2B0-21381CC113D1}" type="datetimeFigureOut">
              <a:rPr lang="en-GB" smtClean="0"/>
              <a:t>17/03/2026</a:t>
            </a:fld>
            <a:endParaRPr lang="en-GB"/>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GB"/>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BD399B2-DF90-47C9-8B23-32B79EB8B41C}" type="slidenum">
              <a:rPr lang="en-GB" smtClean="0"/>
              <a:t>‹#›</a:t>
            </a:fld>
            <a:endParaRPr lang="en-GB"/>
          </a:p>
        </p:txBody>
      </p:sp>
    </p:spTree>
    <p:extLst>
      <p:ext uri="{BB962C8B-B14F-4D97-AF65-F5344CB8AC3E}">
        <p14:creationId xmlns:p14="http://schemas.microsoft.com/office/powerpoint/2010/main" val="19538183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02661-1DF6-45C8-8880-D97C1B0C1601}"/>
              </a:ext>
            </a:extLst>
          </p:cNvPr>
          <p:cNvSpPr>
            <a:spLocks noGrp="1"/>
          </p:cNvSpPr>
          <p:nvPr>
            <p:ph type="ctrTitle"/>
          </p:nvPr>
        </p:nvSpPr>
        <p:spPr/>
        <p:txBody>
          <a:bodyPr/>
          <a:lstStyle/>
          <a:p>
            <a:r>
              <a:rPr lang="en-US" dirty="0"/>
              <a:t>H1N1-Vaccine Uptake Prediction</a:t>
            </a:r>
            <a:endParaRPr lang="en-GB" dirty="0"/>
          </a:p>
        </p:txBody>
      </p:sp>
      <p:sp>
        <p:nvSpPr>
          <p:cNvPr id="3" name="Subtitle 2">
            <a:extLst>
              <a:ext uri="{FF2B5EF4-FFF2-40B4-BE49-F238E27FC236}">
                <a16:creationId xmlns:a16="http://schemas.microsoft.com/office/drawing/2014/main" id="{751AF486-5AF8-4909-8B6B-16C7D10A58D0}"/>
              </a:ext>
            </a:extLst>
          </p:cNvPr>
          <p:cNvSpPr>
            <a:spLocks noGrp="1"/>
          </p:cNvSpPr>
          <p:nvPr>
            <p:ph type="subTitle" idx="1"/>
          </p:nvPr>
        </p:nvSpPr>
        <p:spPr/>
        <p:txBody>
          <a:bodyPr/>
          <a:lstStyle/>
          <a:p>
            <a:r>
              <a:rPr lang="en-US" dirty="0"/>
              <a:t>Presented by : </a:t>
            </a:r>
            <a:r>
              <a:rPr lang="en-US" dirty="0" err="1"/>
              <a:t>frankline</a:t>
            </a:r>
            <a:r>
              <a:rPr lang="en-US" dirty="0"/>
              <a:t> </a:t>
            </a:r>
            <a:r>
              <a:rPr lang="en-US" dirty="0" err="1"/>
              <a:t>kipkemboi</a:t>
            </a:r>
            <a:endParaRPr lang="en-US" dirty="0"/>
          </a:p>
          <a:p>
            <a:endParaRPr lang="en-GB" dirty="0"/>
          </a:p>
        </p:txBody>
      </p:sp>
    </p:spTree>
    <p:extLst>
      <p:ext uri="{BB962C8B-B14F-4D97-AF65-F5344CB8AC3E}">
        <p14:creationId xmlns:p14="http://schemas.microsoft.com/office/powerpoint/2010/main" val="1321836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92E3-1E5D-4A75-AB75-86F047C94FA4}"/>
              </a:ext>
            </a:extLst>
          </p:cNvPr>
          <p:cNvSpPr>
            <a:spLocks noGrp="1"/>
          </p:cNvSpPr>
          <p:nvPr>
            <p:ph type="title"/>
          </p:nvPr>
        </p:nvSpPr>
        <p:spPr/>
        <p:txBody>
          <a:bodyPr/>
          <a:lstStyle/>
          <a:p>
            <a:r>
              <a:rPr lang="en-US" dirty="0"/>
              <a:t>Project Overview</a:t>
            </a:r>
            <a:endParaRPr lang="en-GB" dirty="0"/>
          </a:p>
        </p:txBody>
      </p:sp>
      <p:sp>
        <p:nvSpPr>
          <p:cNvPr id="3" name="Content Placeholder 2">
            <a:extLst>
              <a:ext uri="{FF2B5EF4-FFF2-40B4-BE49-F238E27FC236}">
                <a16:creationId xmlns:a16="http://schemas.microsoft.com/office/drawing/2014/main" id="{6120BB12-8517-4A0F-8ADE-27BB2ECD7D7A}"/>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This project uses machine learning to predict whether an individual received the H1N1 vaccine using survey data from the National 2009 H1N1 Flu Survey.</a:t>
            </a:r>
          </a:p>
          <a:p>
            <a:r>
              <a:rPr lang="en-US" sz="2400" b="0" i="0" dirty="0">
                <a:solidFill>
                  <a:srgbClr val="1F2328"/>
                </a:solidFill>
                <a:effectLst/>
                <a:latin typeface="Times New Roman" panose="02020603050405020304" pitchFamily="18" charset="0"/>
                <a:cs typeface="Times New Roman" panose="02020603050405020304" pitchFamily="18" charset="0"/>
              </a:rPr>
              <a:t>The goal is to help </a:t>
            </a:r>
            <a:r>
              <a:rPr lang="en-US" sz="2400" b="1" i="0" dirty="0">
                <a:solidFill>
                  <a:srgbClr val="1F2328"/>
                </a:solidFill>
                <a:effectLst/>
                <a:latin typeface="Times New Roman" panose="02020603050405020304" pitchFamily="18" charset="0"/>
                <a:cs typeface="Times New Roman" panose="02020603050405020304" pitchFamily="18" charset="0"/>
              </a:rPr>
              <a:t>public health authorities</a:t>
            </a:r>
            <a:r>
              <a:rPr lang="en-US" sz="2400" b="0" i="0" dirty="0">
                <a:solidFill>
                  <a:srgbClr val="1F2328"/>
                </a:solidFill>
                <a:effectLst/>
                <a:latin typeface="Times New Roman" panose="02020603050405020304" pitchFamily="18" charset="0"/>
                <a:cs typeface="Times New Roman" panose="02020603050405020304" pitchFamily="18" charset="0"/>
              </a:rPr>
              <a:t> understand the factors that influence vaccine uptake and support </a:t>
            </a:r>
            <a:r>
              <a:rPr lang="en-US" sz="2400" b="1" i="0" dirty="0">
                <a:solidFill>
                  <a:srgbClr val="1F2328"/>
                </a:solidFill>
                <a:effectLst/>
                <a:latin typeface="Times New Roman" panose="02020603050405020304" pitchFamily="18" charset="0"/>
                <a:cs typeface="Times New Roman" panose="02020603050405020304" pitchFamily="18" charset="0"/>
              </a:rPr>
              <a:t>targeted vaccination campaigns</a:t>
            </a:r>
            <a:r>
              <a:rPr lang="en-US" sz="2400" b="0" i="0" dirty="0">
                <a:solidFill>
                  <a:srgbClr val="1F2328"/>
                </a:solidFill>
                <a:effectLst/>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27098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2AF8C-191D-4D8B-BDF9-7F9D95E0B8FB}"/>
              </a:ext>
            </a:extLst>
          </p:cNvPr>
          <p:cNvSpPr>
            <a:spLocks noGrp="1"/>
          </p:cNvSpPr>
          <p:nvPr>
            <p:ph type="title"/>
          </p:nvPr>
        </p:nvSpPr>
        <p:spPr/>
        <p:txBody>
          <a:bodyPr/>
          <a:lstStyle/>
          <a:p>
            <a:r>
              <a:rPr lang="en-US" dirty="0"/>
              <a:t>Problem Statement</a:t>
            </a:r>
            <a:endParaRPr lang="en-GB" dirty="0"/>
          </a:p>
        </p:txBody>
      </p:sp>
      <p:sp>
        <p:nvSpPr>
          <p:cNvPr id="3" name="Content Placeholder 2">
            <a:extLst>
              <a:ext uri="{FF2B5EF4-FFF2-40B4-BE49-F238E27FC236}">
                <a16:creationId xmlns:a16="http://schemas.microsoft.com/office/drawing/2014/main" id="{E12BDC9C-1530-473E-BEDB-1A24837B64FF}"/>
              </a:ext>
            </a:extLst>
          </p:cNvPr>
          <p:cNvSpPr>
            <a:spLocks noGrp="1"/>
          </p:cNvSpPr>
          <p:nvPr>
            <p:ph idx="1"/>
          </p:nvPr>
        </p:nvSpPr>
        <p:spPr/>
        <p:txBody>
          <a:bodyPr>
            <a:normAutofit/>
          </a:bodyPr>
          <a:lstStyle/>
          <a:p>
            <a:r>
              <a:rPr lang="en-US" sz="2400" b="0" i="0" dirty="0">
                <a:solidFill>
                  <a:srgbClr val="1F2328"/>
                </a:solidFill>
                <a:effectLst/>
                <a:latin typeface="Times New Roman" panose="02020603050405020304" pitchFamily="18" charset="0"/>
                <a:cs typeface="Times New Roman" panose="02020603050405020304" pitchFamily="18" charset="0"/>
              </a:rPr>
              <a:t>Public health authorities need to increase vaccination uptake to reduce the spread of infectious diseases and protect the vulnerable population. However, many individuals choose not to receive vaccines due to differences in beliefs, health </a:t>
            </a:r>
            <a:r>
              <a:rPr lang="en-US" sz="2400" b="0" i="0" dirty="0" err="1">
                <a:solidFill>
                  <a:srgbClr val="1F2328"/>
                </a:solidFill>
                <a:effectLst/>
                <a:latin typeface="Times New Roman" panose="02020603050405020304" pitchFamily="18" charset="0"/>
                <a:cs typeface="Times New Roman" panose="02020603050405020304" pitchFamily="18" charset="0"/>
              </a:rPr>
              <a:t>behaviours</a:t>
            </a:r>
            <a:r>
              <a:rPr lang="en-US" sz="2400" b="0" i="0" dirty="0">
                <a:solidFill>
                  <a:srgbClr val="1F2328"/>
                </a:solidFill>
                <a:effectLst/>
                <a:latin typeface="Times New Roman" panose="02020603050405020304" pitchFamily="18" charset="0"/>
                <a:cs typeface="Times New Roman" panose="02020603050405020304" pitchFamily="18" charset="0"/>
              </a:rPr>
              <a:t>, risk perception and access to healthcare. Without understanding which groups are less likely to vaccinate, it is difficult for health </a:t>
            </a:r>
            <a:r>
              <a:rPr lang="en-US" sz="2400" b="0" i="0" dirty="0" err="1">
                <a:solidFill>
                  <a:srgbClr val="1F2328"/>
                </a:solidFill>
                <a:effectLst/>
                <a:latin typeface="Times New Roman" panose="02020603050405020304" pitchFamily="18" charset="0"/>
                <a:cs typeface="Times New Roman" panose="02020603050405020304" pitchFamily="18" charset="0"/>
              </a:rPr>
              <a:t>organisations</a:t>
            </a:r>
            <a:r>
              <a:rPr lang="en-US" sz="2400" b="0" i="0" dirty="0">
                <a:solidFill>
                  <a:srgbClr val="1F2328"/>
                </a:solidFill>
                <a:effectLst/>
                <a:latin typeface="Times New Roman" panose="02020603050405020304" pitchFamily="18" charset="0"/>
                <a:cs typeface="Times New Roman" panose="02020603050405020304" pitchFamily="18" charset="0"/>
              </a:rPr>
              <a:t> to design effective outreach and vaccination campaigns.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54328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81528-7203-47D2-B511-1D68966E082E}"/>
              </a:ext>
            </a:extLst>
          </p:cNvPr>
          <p:cNvSpPr>
            <a:spLocks noGrp="1"/>
          </p:cNvSpPr>
          <p:nvPr>
            <p:ph type="title"/>
          </p:nvPr>
        </p:nvSpPr>
        <p:spPr/>
        <p:txBody>
          <a:bodyPr/>
          <a:lstStyle/>
          <a:p>
            <a:r>
              <a:rPr lang="en-US" dirty="0"/>
              <a:t>Business Understanding</a:t>
            </a:r>
            <a:endParaRPr lang="en-GB" dirty="0"/>
          </a:p>
        </p:txBody>
      </p:sp>
      <p:sp>
        <p:nvSpPr>
          <p:cNvPr id="3" name="Content Placeholder 2">
            <a:extLst>
              <a:ext uri="{FF2B5EF4-FFF2-40B4-BE49-F238E27FC236}">
                <a16:creationId xmlns:a16="http://schemas.microsoft.com/office/drawing/2014/main" id="{D5A5FF00-EFC0-4223-911C-59221BF3CA83}"/>
              </a:ext>
            </a:extLst>
          </p:cNvPr>
          <p:cNvSpPr>
            <a:spLocks noGrp="1"/>
          </p:cNvSpPr>
          <p:nvPr>
            <p:ph idx="1"/>
          </p:nvPr>
        </p:nvSpPr>
        <p:spPr/>
        <p:txBody>
          <a:bodyPr>
            <a:noAutofit/>
          </a:bodyPr>
          <a:lstStyle/>
          <a:p>
            <a:r>
              <a:rPr lang="en-US" b="1" i="0" dirty="0">
                <a:solidFill>
                  <a:srgbClr val="1F2328"/>
                </a:solidFill>
                <a:effectLst/>
                <a:latin typeface="Times New Roman" panose="02020603050405020304" pitchFamily="18" charset="0"/>
                <a:cs typeface="Times New Roman" panose="02020603050405020304" pitchFamily="18" charset="0"/>
              </a:rPr>
              <a:t>KEY QUESTION FOR PREDICTING H1N1 VACCINE UPTAKE</a:t>
            </a:r>
          </a:p>
          <a:p>
            <a:r>
              <a:rPr lang="en-US" b="0" i="0" dirty="0">
                <a:solidFill>
                  <a:srgbClr val="1F2328"/>
                </a:solidFill>
                <a:effectLst/>
                <a:latin typeface="Times New Roman" panose="02020603050405020304" pitchFamily="18" charset="0"/>
                <a:cs typeface="Times New Roman" panose="02020603050405020304" pitchFamily="18" charset="0"/>
              </a:rPr>
              <a:t>Which factors influence whether an individual receives the H1N1 flu vaccine and can we accurately predict who is likely or unlikely to get vaccinated?</a:t>
            </a:r>
          </a:p>
          <a:p>
            <a:r>
              <a:rPr lang="en-US" b="0" i="0" dirty="0">
                <a:solidFill>
                  <a:srgbClr val="1F2328"/>
                </a:solidFill>
                <a:effectLst/>
                <a:latin typeface="Times New Roman" panose="02020603050405020304" pitchFamily="18" charset="0"/>
                <a:cs typeface="Times New Roman" panose="02020603050405020304" pitchFamily="18" charset="0"/>
              </a:rPr>
              <a:t>Which demographic group is less likely to vaccinate? Understanding differences in vaccination </a:t>
            </a:r>
            <a:r>
              <a:rPr lang="en-US" b="0" i="0" dirty="0" err="1">
                <a:solidFill>
                  <a:srgbClr val="1F2328"/>
                </a:solidFill>
                <a:effectLst/>
                <a:latin typeface="Times New Roman" panose="02020603050405020304" pitchFamily="18" charset="0"/>
                <a:cs typeface="Times New Roman" panose="02020603050405020304" pitchFamily="18" charset="0"/>
              </a:rPr>
              <a:t>behaviour</a:t>
            </a:r>
            <a:r>
              <a:rPr lang="en-US" b="0" i="0" dirty="0">
                <a:solidFill>
                  <a:srgbClr val="1F2328"/>
                </a:solidFill>
                <a:effectLst/>
                <a:latin typeface="Times New Roman" panose="02020603050405020304" pitchFamily="18" charset="0"/>
                <a:cs typeface="Times New Roman" panose="02020603050405020304" pitchFamily="18" charset="0"/>
              </a:rPr>
              <a:t> across age, gender, education level and income helps identify high-risk populations.</a:t>
            </a:r>
            <a:endParaRPr lang="en-US" dirty="0">
              <a:solidFill>
                <a:srgbClr val="1F2328"/>
              </a:solidFill>
              <a:latin typeface="Times New Roman" panose="02020603050405020304" pitchFamily="18" charset="0"/>
              <a:cs typeface="Times New Roman" panose="02020603050405020304" pitchFamily="18" charset="0"/>
            </a:endParaRPr>
          </a:p>
          <a:p>
            <a:r>
              <a:rPr lang="en-US" b="0" i="0" dirty="0">
                <a:solidFill>
                  <a:srgbClr val="1F2328"/>
                </a:solidFill>
                <a:effectLst/>
                <a:latin typeface="Times New Roman" panose="02020603050405020304" pitchFamily="18" charset="0"/>
                <a:cs typeface="Times New Roman" panose="02020603050405020304" pitchFamily="18" charset="0"/>
              </a:rPr>
              <a:t>Does doctor’s recommendation influence vaccination </a:t>
            </a:r>
            <a:r>
              <a:rPr lang="en-US" b="0" i="0" dirty="0" err="1">
                <a:solidFill>
                  <a:srgbClr val="1F2328"/>
                </a:solidFill>
                <a:effectLst/>
                <a:latin typeface="Times New Roman" panose="02020603050405020304" pitchFamily="18" charset="0"/>
                <a:cs typeface="Times New Roman" panose="02020603050405020304" pitchFamily="18" charset="0"/>
              </a:rPr>
              <a:t>behaviour</a:t>
            </a:r>
            <a:r>
              <a:rPr lang="en-US" b="0" i="0" dirty="0">
                <a:solidFill>
                  <a:srgbClr val="1F2328"/>
                </a:solidFill>
                <a:effectLst/>
                <a:latin typeface="Times New Roman" panose="02020603050405020304" pitchFamily="18" charset="0"/>
                <a:cs typeface="Times New Roman" panose="02020603050405020304" pitchFamily="18" charset="0"/>
              </a:rPr>
              <a:t>? Medical professionals are trusted sources of health advice. </a:t>
            </a:r>
            <a:r>
              <a:rPr lang="en-US" b="0" i="0" dirty="0" err="1">
                <a:solidFill>
                  <a:srgbClr val="1F2328"/>
                </a:solidFill>
                <a:effectLst/>
                <a:latin typeface="Times New Roman" panose="02020603050405020304" pitchFamily="18" charset="0"/>
                <a:cs typeface="Times New Roman" panose="02020603050405020304" pitchFamily="18" charset="0"/>
              </a:rPr>
              <a:t>Analysing</a:t>
            </a:r>
            <a:r>
              <a:rPr lang="en-US" b="0" i="0" dirty="0">
                <a:solidFill>
                  <a:srgbClr val="1F2328"/>
                </a:solidFill>
                <a:effectLst/>
                <a:latin typeface="Times New Roman" panose="02020603050405020304" pitchFamily="18" charset="0"/>
                <a:cs typeface="Times New Roman" panose="02020603050405020304" pitchFamily="18" charset="0"/>
              </a:rPr>
              <a:t> whether individuals who receive recommendations from their doctors are more likely to vaccinate can guide strategies for improving outreach through healthcare providers.</a:t>
            </a:r>
          </a:p>
          <a:p>
            <a:r>
              <a:rPr lang="en-US" b="0" i="0" dirty="0">
                <a:solidFill>
                  <a:srgbClr val="1F2328"/>
                </a:solidFill>
                <a:effectLst/>
                <a:latin typeface="Times New Roman" panose="02020603050405020304" pitchFamily="18" charset="0"/>
                <a:cs typeface="Times New Roman" panose="02020603050405020304" pitchFamily="18" charset="0"/>
              </a:rPr>
              <a:t>Which health conditions are associated with vaccination? People with chronic medical conditions may be more motivated to vaccinate. identifying these patterns helps </a:t>
            </a:r>
            <a:r>
              <a:rPr lang="en-US" b="0" i="0" dirty="0" err="1">
                <a:solidFill>
                  <a:srgbClr val="1F2328"/>
                </a:solidFill>
                <a:effectLst/>
                <a:latin typeface="Times New Roman" panose="02020603050405020304" pitchFamily="18" charset="0"/>
                <a:cs typeface="Times New Roman" panose="02020603050405020304" pitchFamily="18" charset="0"/>
              </a:rPr>
              <a:t>príoritize</a:t>
            </a:r>
            <a:r>
              <a:rPr lang="en-US" b="0" i="0" dirty="0">
                <a:solidFill>
                  <a:srgbClr val="1F2328"/>
                </a:solidFill>
                <a:effectLst/>
                <a:latin typeface="Times New Roman" panose="02020603050405020304" pitchFamily="18" charset="0"/>
                <a:cs typeface="Times New Roman" panose="02020603050405020304" pitchFamily="18" charset="0"/>
              </a:rPr>
              <a:t> interventions for high-risk groups.</a:t>
            </a:r>
            <a:endParaRPr lang="en-GB"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5228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F7162-B277-46E0-BC16-93EB691DB61B}"/>
              </a:ext>
            </a:extLst>
          </p:cNvPr>
          <p:cNvSpPr>
            <a:spLocks noGrp="1"/>
          </p:cNvSpPr>
          <p:nvPr>
            <p:ph type="title"/>
          </p:nvPr>
        </p:nvSpPr>
        <p:spPr/>
        <p:txBody>
          <a:bodyPr/>
          <a:lstStyle/>
          <a:p>
            <a:r>
              <a:rPr lang="en-US" dirty="0"/>
              <a:t>Stakeholder</a:t>
            </a:r>
            <a:endParaRPr lang="en-GB" dirty="0"/>
          </a:p>
        </p:txBody>
      </p:sp>
      <p:sp>
        <p:nvSpPr>
          <p:cNvPr id="3" name="Content Placeholder 2">
            <a:extLst>
              <a:ext uri="{FF2B5EF4-FFF2-40B4-BE49-F238E27FC236}">
                <a16:creationId xmlns:a16="http://schemas.microsoft.com/office/drawing/2014/main" id="{3844A13E-7053-4B0D-80C2-BA32DC6398D8}"/>
              </a:ext>
            </a:extLst>
          </p:cNvPr>
          <p:cNvSpPr>
            <a:spLocks noGrp="1"/>
          </p:cNvSpPr>
          <p:nvPr>
            <p:ph idx="1"/>
          </p:nvPr>
        </p:nvSpPr>
        <p:spPr/>
        <p:txBody>
          <a:bodyPr>
            <a:normAutofit/>
          </a:bodyPr>
          <a:lstStyle/>
          <a:p>
            <a:r>
              <a:rPr lang="en-US" sz="2400" b="1" dirty="0">
                <a:latin typeface="Times New Roman" panose="02020603050405020304" pitchFamily="18" charset="0"/>
                <a:cs typeface="Times New Roman" panose="02020603050405020304" pitchFamily="18" charset="0"/>
              </a:rPr>
              <a:t>Public Health Authorities</a:t>
            </a:r>
          </a:p>
          <a:p>
            <a:r>
              <a:rPr lang="en-US" sz="2400" b="0" i="0" dirty="0">
                <a:solidFill>
                  <a:srgbClr val="1F2328"/>
                </a:solidFill>
                <a:effectLst/>
                <a:latin typeface="Times New Roman" panose="02020603050405020304" pitchFamily="18" charset="0"/>
                <a:cs typeface="Times New Roman" panose="02020603050405020304" pitchFamily="18" charset="0"/>
              </a:rPr>
              <a:t>The goal is to help </a:t>
            </a:r>
            <a:r>
              <a:rPr lang="en-US" sz="2400" b="1" i="0" dirty="0">
                <a:solidFill>
                  <a:srgbClr val="1F2328"/>
                </a:solidFill>
                <a:effectLst/>
                <a:latin typeface="Times New Roman" panose="02020603050405020304" pitchFamily="18" charset="0"/>
                <a:cs typeface="Times New Roman" panose="02020603050405020304" pitchFamily="18" charset="0"/>
              </a:rPr>
              <a:t>public health authorities</a:t>
            </a:r>
            <a:r>
              <a:rPr lang="en-US" sz="2400" b="0" i="0" dirty="0">
                <a:solidFill>
                  <a:srgbClr val="1F2328"/>
                </a:solidFill>
                <a:effectLst/>
                <a:latin typeface="Times New Roman" panose="02020603050405020304" pitchFamily="18" charset="0"/>
                <a:cs typeface="Times New Roman" panose="02020603050405020304" pitchFamily="18" charset="0"/>
              </a:rPr>
              <a:t> understand the factors that influence vaccine uptake and support </a:t>
            </a:r>
            <a:r>
              <a:rPr lang="en-US" sz="2400" b="1" i="0" dirty="0">
                <a:solidFill>
                  <a:srgbClr val="1F2328"/>
                </a:solidFill>
                <a:effectLst/>
                <a:latin typeface="Times New Roman" panose="02020603050405020304" pitchFamily="18" charset="0"/>
                <a:cs typeface="Times New Roman" panose="02020603050405020304" pitchFamily="18" charset="0"/>
              </a:rPr>
              <a:t>targeted vaccination campaigns</a:t>
            </a:r>
            <a:r>
              <a:rPr lang="en-US" sz="2400" b="0" i="0" dirty="0">
                <a:solidFill>
                  <a:srgbClr val="1F2328"/>
                </a:solidFill>
                <a:effectLst/>
                <a:latin typeface="Times New Roman" panose="02020603050405020304" pitchFamily="18" charset="0"/>
                <a:cs typeface="Times New Roman" panose="02020603050405020304" pitchFamily="18" charset="0"/>
              </a:rPr>
              <a:t>.</a:t>
            </a:r>
            <a:endParaRPr lang="en-GB"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78693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A813C-EAEB-4FFF-97A4-C0AC8C497900}"/>
              </a:ext>
            </a:extLst>
          </p:cNvPr>
          <p:cNvSpPr>
            <a:spLocks noGrp="1"/>
          </p:cNvSpPr>
          <p:nvPr>
            <p:ph type="title"/>
          </p:nvPr>
        </p:nvSpPr>
        <p:spPr/>
        <p:txBody>
          <a:bodyPr/>
          <a:lstStyle/>
          <a:p>
            <a:r>
              <a:rPr lang="en-US" dirty="0"/>
              <a:t>Data Understanding</a:t>
            </a:r>
            <a:endParaRPr lang="en-GB" dirty="0"/>
          </a:p>
        </p:txBody>
      </p:sp>
      <p:sp>
        <p:nvSpPr>
          <p:cNvPr id="3" name="Content Placeholder 2">
            <a:extLst>
              <a:ext uri="{FF2B5EF4-FFF2-40B4-BE49-F238E27FC236}">
                <a16:creationId xmlns:a16="http://schemas.microsoft.com/office/drawing/2014/main" id="{BEB7A253-19FA-4F00-96BE-D8D2101AAB1E}"/>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Dataset Used </a:t>
            </a:r>
            <a:r>
              <a:rPr lang="en-US" sz="2400" b="0" i="0" dirty="0">
                <a:solidFill>
                  <a:srgbClr val="1F2328"/>
                </a:solidFill>
                <a:effectLst/>
                <a:latin typeface="Times New Roman" panose="02020603050405020304" pitchFamily="18" charset="0"/>
                <a:cs typeface="Times New Roman" panose="02020603050405020304" pitchFamily="18" charset="0"/>
              </a:rPr>
              <a:t> in this project is the </a:t>
            </a:r>
            <a:r>
              <a:rPr lang="en-US" sz="2400" b="1" i="0" dirty="0">
                <a:solidFill>
                  <a:srgbClr val="1F2328"/>
                </a:solidFill>
                <a:effectLst/>
                <a:latin typeface="Times New Roman" panose="02020603050405020304" pitchFamily="18" charset="0"/>
                <a:cs typeface="Times New Roman" panose="02020603050405020304" pitchFamily="18" charset="0"/>
              </a:rPr>
              <a:t>H1N1 and Seasonal Flu Vaccines dataset</a:t>
            </a:r>
            <a:r>
              <a:rPr lang="en-US" sz="2400" b="0" i="0" dirty="0">
                <a:solidFill>
                  <a:srgbClr val="1F2328"/>
                </a:solidFill>
                <a:effectLst/>
                <a:latin typeface="Times New Roman" panose="02020603050405020304" pitchFamily="18" charset="0"/>
                <a:cs typeface="Times New Roman" panose="02020603050405020304" pitchFamily="18" charset="0"/>
              </a:rPr>
              <a:t> from the National 2009 H1N1 Flu Survey. It contains 26,707 observations and 38 variables, including demographic, health, </a:t>
            </a:r>
            <a:r>
              <a:rPr lang="en-US" sz="2400" b="0" i="0" dirty="0" err="1">
                <a:solidFill>
                  <a:srgbClr val="1F2328"/>
                </a:solidFill>
                <a:effectLst/>
                <a:latin typeface="Times New Roman" panose="02020603050405020304" pitchFamily="18" charset="0"/>
                <a:cs typeface="Times New Roman" panose="02020603050405020304" pitchFamily="18" charset="0"/>
              </a:rPr>
              <a:t>behavioural</a:t>
            </a:r>
            <a:r>
              <a:rPr lang="en-US" sz="2400" b="0" i="0" dirty="0">
                <a:solidFill>
                  <a:srgbClr val="1F2328"/>
                </a:solidFill>
                <a:effectLst/>
                <a:latin typeface="Times New Roman" panose="02020603050405020304" pitchFamily="18" charset="0"/>
                <a:cs typeface="Times New Roman" panose="02020603050405020304" pitchFamily="18" charset="0"/>
              </a:rPr>
              <a:t>, and opinion-related features. For this project, the selected target variable is </a:t>
            </a:r>
            <a:r>
              <a:rPr lang="en-US" sz="2400" b="1" i="0" dirty="0">
                <a:solidFill>
                  <a:srgbClr val="1F2328"/>
                </a:solidFill>
                <a:effectLst/>
                <a:latin typeface="Times New Roman" panose="02020603050405020304" pitchFamily="18" charset="0"/>
                <a:cs typeface="Times New Roman" panose="02020603050405020304" pitchFamily="18" charset="0"/>
              </a:rPr>
              <a:t>h1n1_vaccine</a:t>
            </a:r>
            <a:r>
              <a:rPr lang="en-US" sz="2400" b="0" i="0" dirty="0">
                <a:solidFill>
                  <a:srgbClr val="1F2328"/>
                </a:solidFill>
                <a:effectLst/>
                <a:latin typeface="Times New Roman" panose="02020603050405020304" pitchFamily="18" charset="0"/>
                <a:cs typeface="Times New Roman" panose="02020603050405020304" pitchFamily="18" charset="0"/>
              </a:rPr>
              <a:t>, making it a binary classification problem aimed at predicting whether an individual received the H1N1 vaccine.</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45285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46F41-93A6-4802-8CD5-DDDF5A662D74}"/>
              </a:ext>
            </a:extLst>
          </p:cNvPr>
          <p:cNvSpPr>
            <a:spLocks noGrp="1"/>
          </p:cNvSpPr>
          <p:nvPr>
            <p:ph type="title"/>
          </p:nvPr>
        </p:nvSpPr>
        <p:spPr/>
        <p:txBody>
          <a:bodyPr/>
          <a:lstStyle/>
          <a:p>
            <a:r>
              <a:rPr lang="en-US" dirty="0"/>
              <a:t>Data Preparation</a:t>
            </a:r>
            <a:endParaRPr lang="en-GB" dirty="0"/>
          </a:p>
        </p:txBody>
      </p:sp>
      <p:sp>
        <p:nvSpPr>
          <p:cNvPr id="3" name="Content Placeholder 2">
            <a:extLst>
              <a:ext uri="{FF2B5EF4-FFF2-40B4-BE49-F238E27FC236}">
                <a16:creationId xmlns:a16="http://schemas.microsoft.com/office/drawing/2014/main" id="{435B9845-249C-440F-8139-3D8D2E8EE509}"/>
              </a:ext>
            </a:extLst>
          </p:cNvPr>
          <p:cNvSpPr>
            <a:spLocks noGrp="1"/>
          </p:cNvSpPr>
          <p:nvPr>
            <p:ph idx="1"/>
          </p:nvPr>
        </p:nvSpPr>
        <p:spPr/>
        <p:txBody>
          <a:bodyPr>
            <a:noAutofit/>
          </a:bodyPr>
          <a:lstStyle/>
          <a:p>
            <a:r>
              <a:rPr lang="en-GB" sz="2400" dirty="0">
                <a:latin typeface="Times New Roman" panose="02020603050405020304" pitchFamily="18" charset="0"/>
                <a:cs typeface="Times New Roman" panose="02020603050405020304" pitchFamily="18" charset="0"/>
              </a:rPr>
              <a:t>Removed unnecessary target (seasonal vaccine)</a:t>
            </a:r>
          </a:p>
          <a:p>
            <a:r>
              <a:rPr lang="en-GB" sz="2400" dirty="0">
                <a:latin typeface="Times New Roman" panose="02020603050405020304" pitchFamily="18" charset="0"/>
                <a:cs typeface="Times New Roman" panose="02020603050405020304" pitchFamily="18" charset="0"/>
              </a:rPr>
              <a:t>Defined: </a:t>
            </a:r>
          </a:p>
          <a:p>
            <a:r>
              <a:rPr lang="en-GB" sz="2400" dirty="0">
                <a:latin typeface="Times New Roman" panose="02020603050405020304" pitchFamily="18" charset="0"/>
                <a:cs typeface="Times New Roman" panose="02020603050405020304" pitchFamily="18" charset="0"/>
              </a:rPr>
              <a:t>X = features, </a:t>
            </a:r>
          </a:p>
          <a:p>
            <a:r>
              <a:rPr lang="en-GB" sz="2400" dirty="0">
                <a:latin typeface="Times New Roman" panose="02020603050405020304" pitchFamily="18" charset="0"/>
                <a:cs typeface="Times New Roman" panose="02020603050405020304" pitchFamily="18" charset="0"/>
              </a:rPr>
              <a:t>y = h1n1_vaccine</a:t>
            </a:r>
          </a:p>
          <a:p>
            <a:r>
              <a:rPr lang="en-GB" sz="2400" dirty="0">
                <a:latin typeface="Times New Roman" panose="02020603050405020304" pitchFamily="18" charset="0"/>
                <a:cs typeface="Times New Roman" panose="02020603050405020304" pitchFamily="18" charset="0"/>
              </a:rPr>
              <a:t>Split data into:80% training20% testing</a:t>
            </a:r>
          </a:p>
          <a:p>
            <a:r>
              <a:rPr lang="en-GB" sz="2400" dirty="0">
                <a:latin typeface="Times New Roman" panose="02020603050405020304" pitchFamily="18" charset="0"/>
                <a:cs typeface="Times New Roman" panose="02020603050405020304" pitchFamily="18" charset="0"/>
              </a:rPr>
              <a:t>Handled missing values:</a:t>
            </a:r>
          </a:p>
          <a:p>
            <a:r>
              <a:rPr lang="en-GB" sz="2400" dirty="0">
                <a:latin typeface="Times New Roman" panose="02020603050405020304" pitchFamily="18" charset="0"/>
                <a:cs typeface="Times New Roman" panose="02020603050405020304" pitchFamily="18" charset="0"/>
              </a:rPr>
              <a:t> median for numeric columns,</a:t>
            </a:r>
          </a:p>
          <a:p>
            <a:r>
              <a:rPr lang="en-GB" sz="2400" dirty="0">
                <a:latin typeface="Times New Roman" panose="02020603050405020304" pitchFamily="18" charset="0"/>
                <a:cs typeface="Times New Roman" panose="02020603050405020304" pitchFamily="18" charset="0"/>
              </a:rPr>
              <a:t> mode for categorical columns</a:t>
            </a:r>
          </a:p>
          <a:p>
            <a:r>
              <a:rPr lang="en-GB" sz="2400" dirty="0">
                <a:latin typeface="Times New Roman" panose="02020603050405020304" pitchFamily="18" charset="0"/>
                <a:cs typeface="Times New Roman" panose="02020603050405020304" pitchFamily="18" charset="0"/>
              </a:rPr>
              <a:t> Applied  one-hot encoding for categorical variables</a:t>
            </a:r>
          </a:p>
        </p:txBody>
      </p:sp>
    </p:spTree>
    <p:extLst>
      <p:ext uri="{BB962C8B-B14F-4D97-AF65-F5344CB8AC3E}">
        <p14:creationId xmlns:p14="http://schemas.microsoft.com/office/powerpoint/2010/main" val="1985551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9BAFC-348D-49CF-ABB2-7513E04EDBB6}"/>
              </a:ext>
            </a:extLst>
          </p:cNvPr>
          <p:cNvSpPr>
            <a:spLocks noGrp="1"/>
          </p:cNvSpPr>
          <p:nvPr>
            <p:ph type="title"/>
          </p:nvPr>
        </p:nvSpPr>
        <p:spPr/>
        <p:txBody>
          <a:bodyPr/>
          <a:lstStyle/>
          <a:p>
            <a:r>
              <a:rPr lang="en-US" dirty="0"/>
              <a:t>Exploratory Data Analysis(EDA)</a:t>
            </a:r>
            <a:endParaRPr lang="en-GB" dirty="0"/>
          </a:p>
        </p:txBody>
      </p:sp>
      <p:sp>
        <p:nvSpPr>
          <p:cNvPr id="3" name="Content Placeholder 2">
            <a:extLst>
              <a:ext uri="{FF2B5EF4-FFF2-40B4-BE49-F238E27FC236}">
                <a16:creationId xmlns:a16="http://schemas.microsoft.com/office/drawing/2014/main" id="{6D330C55-80E2-48FC-B037-E7B03D96A93E}"/>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EDA helped identify patterns before modeling</a:t>
            </a:r>
          </a:p>
          <a:p>
            <a:r>
              <a:rPr lang="en-US" sz="2400" dirty="0">
                <a:latin typeface="Times New Roman" panose="02020603050405020304" pitchFamily="18" charset="0"/>
                <a:cs typeface="Times New Roman" panose="02020603050405020304" pitchFamily="18" charset="0"/>
              </a:rPr>
              <a:t>Distribution of vaccinated vs not vaccinated. </a:t>
            </a:r>
          </a:p>
          <a:p>
            <a:r>
              <a:rPr lang="en-US" sz="2400" dirty="0">
                <a:latin typeface="Times New Roman" panose="02020603050405020304" pitchFamily="18" charset="0"/>
                <a:cs typeface="Times New Roman" panose="02020603050405020304" pitchFamily="18" charset="0"/>
              </a:rPr>
              <a:t>Vaccination by age group</a:t>
            </a:r>
          </a:p>
          <a:p>
            <a:r>
              <a:rPr lang="en-US" sz="2400" dirty="0">
                <a:latin typeface="Times New Roman" panose="02020603050405020304" pitchFamily="18" charset="0"/>
                <a:cs typeface="Times New Roman" panose="02020603050405020304" pitchFamily="18" charset="0"/>
              </a:rPr>
              <a:t>Doctor recommendation vs vaccination</a:t>
            </a:r>
          </a:p>
          <a:p>
            <a:r>
              <a:rPr lang="en-US" sz="2400" dirty="0">
                <a:latin typeface="Times New Roman" panose="02020603050405020304" pitchFamily="18" charset="0"/>
                <a:cs typeface="Times New Roman" panose="02020603050405020304" pitchFamily="18" charset="0"/>
              </a:rPr>
              <a:t>Health worker vs vaccination </a:t>
            </a:r>
          </a:p>
          <a:p>
            <a:r>
              <a:rPr lang="en-US" sz="2400" dirty="0">
                <a:latin typeface="Times New Roman" panose="02020603050405020304" pitchFamily="18" charset="0"/>
                <a:cs typeface="Times New Roman" panose="02020603050405020304" pitchFamily="18" charset="0"/>
              </a:rPr>
              <a:t>H1N1 concern and knowledge vs vaccination</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8424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F7C3D-7B5F-495E-955A-9E4D79D53AC1}"/>
              </a:ext>
            </a:extLst>
          </p:cNvPr>
          <p:cNvSpPr>
            <a:spLocks noGrp="1"/>
          </p:cNvSpPr>
          <p:nvPr>
            <p:ph type="title"/>
          </p:nvPr>
        </p:nvSpPr>
        <p:spPr/>
        <p:txBody>
          <a:bodyPr/>
          <a:lstStyle/>
          <a:p>
            <a:r>
              <a:rPr lang="en-US" dirty="0"/>
              <a:t>Key Insight from EDA</a:t>
            </a:r>
            <a:endParaRPr lang="en-GB" dirty="0"/>
          </a:p>
        </p:txBody>
      </p:sp>
      <p:sp>
        <p:nvSpPr>
          <p:cNvPr id="3" name="Content Placeholder 2">
            <a:extLst>
              <a:ext uri="{FF2B5EF4-FFF2-40B4-BE49-F238E27FC236}">
                <a16:creationId xmlns:a16="http://schemas.microsoft.com/office/drawing/2014/main" id="{6185E2D9-EFB4-4FA0-89A5-990846819452}"/>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Individuals who received a doctor’s recommendation were much more likely to receive the H1N1 vaccine.</a:t>
            </a:r>
          </a:p>
          <a:p>
            <a:r>
              <a:rPr lang="en-US" sz="2400" dirty="0">
                <a:latin typeface="Times New Roman" panose="02020603050405020304" pitchFamily="18" charset="0"/>
                <a:cs typeface="Times New Roman" panose="02020603050405020304" pitchFamily="18" charset="0"/>
              </a:rPr>
              <a:t>Individuals with chronic medical conditions may show different vaccination </a:t>
            </a:r>
            <a:r>
              <a:rPr lang="en-US" sz="2400" dirty="0" err="1">
                <a:latin typeface="Times New Roman" panose="02020603050405020304" pitchFamily="18" charset="0"/>
                <a:cs typeface="Times New Roman" panose="02020603050405020304" pitchFamily="18" charset="0"/>
              </a:rPr>
              <a:t>behaviour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Individuals with chronic medical conditions may show different vaccination </a:t>
            </a:r>
            <a:r>
              <a:rPr lang="en-US" sz="2400" dirty="0" err="1">
                <a:latin typeface="Times New Roman" panose="02020603050405020304" pitchFamily="18" charset="0"/>
                <a:cs typeface="Times New Roman" panose="02020603050405020304" pitchFamily="18" charset="0"/>
              </a:rPr>
              <a:t>behaviour</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Demographic differences may influence vaccine uptake</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25263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95090-4862-4414-839A-03ACD26850E4}"/>
              </a:ext>
            </a:extLst>
          </p:cNvPr>
          <p:cNvSpPr>
            <a:spLocks noGrp="1"/>
          </p:cNvSpPr>
          <p:nvPr>
            <p:ph type="title"/>
          </p:nvPr>
        </p:nvSpPr>
        <p:spPr/>
        <p:txBody>
          <a:bodyPr/>
          <a:lstStyle/>
          <a:p>
            <a:r>
              <a:rPr lang="en-US" dirty="0"/>
              <a:t>Modeling Approach </a:t>
            </a:r>
            <a:endParaRPr lang="en-GB" dirty="0"/>
          </a:p>
        </p:txBody>
      </p:sp>
      <p:sp>
        <p:nvSpPr>
          <p:cNvPr id="3" name="Content Placeholder 2">
            <a:extLst>
              <a:ext uri="{FF2B5EF4-FFF2-40B4-BE49-F238E27FC236}">
                <a16:creationId xmlns:a16="http://schemas.microsoft.com/office/drawing/2014/main" id="{710B785D-0BA4-4185-8767-D6B6C39C4874}"/>
              </a:ext>
            </a:extLst>
          </p:cNvPr>
          <p:cNvSpPr>
            <a:spLocks noGrp="1"/>
          </p:cNvSpPr>
          <p:nvPr>
            <p:ph idx="1"/>
          </p:nvPr>
        </p:nvSpPr>
        <p:spPr/>
        <p:txBody>
          <a:bodyPr>
            <a:normAutofit/>
          </a:bodyPr>
          <a:lstStyle/>
          <a:p>
            <a:r>
              <a:rPr lang="en-US" sz="2400" dirty="0">
                <a:latin typeface="Times New Roman" panose="02020603050405020304" pitchFamily="18" charset="0"/>
                <a:cs typeface="Times New Roman" panose="02020603050405020304" pitchFamily="18" charset="0"/>
              </a:rPr>
              <a:t>The project followed an Iterative modeling approach</a:t>
            </a:r>
          </a:p>
          <a:p>
            <a:r>
              <a:rPr lang="en-US" sz="2400" dirty="0">
                <a:latin typeface="Times New Roman" panose="02020603050405020304" pitchFamily="18" charset="0"/>
                <a:cs typeface="Times New Roman" panose="02020603050405020304" pitchFamily="18" charset="0"/>
              </a:rPr>
              <a:t>           Baseline Logistic Regression</a:t>
            </a:r>
          </a:p>
          <a:p>
            <a:r>
              <a:rPr lang="en-US" sz="2400" dirty="0">
                <a:latin typeface="Times New Roman" panose="02020603050405020304" pitchFamily="18" charset="0"/>
                <a:cs typeface="Times New Roman" panose="02020603050405020304" pitchFamily="18" charset="0"/>
              </a:rPr>
              <a:t>           Random Forest Classifier</a:t>
            </a:r>
          </a:p>
          <a:p>
            <a:r>
              <a:rPr lang="en-US" sz="2400" dirty="0">
                <a:latin typeface="Times New Roman" panose="02020603050405020304" pitchFamily="18" charset="0"/>
                <a:cs typeface="Times New Roman" panose="02020603050405020304" pitchFamily="18" charset="0"/>
              </a:rPr>
              <a:t>Why? To  move from a simple model to an improved model and compare performance.</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8712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6A9A9A-B24B-4E30-B088-E176EA5688BD}"/>
              </a:ext>
            </a:extLst>
          </p:cNvPr>
          <p:cNvSpPr>
            <a:spLocks noGrp="1"/>
          </p:cNvSpPr>
          <p:nvPr>
            <p:ph type="title"/>
          </p:nvPr>
        </p:nvSpPr>
        <p:spPr/>
        <p:txBody>
          <a:bodyPr/>
          <a:lstStyle/>
          <a:p>
            <a:r>
              <a:rPr lang="en-US" dirty="0"/>
              <a:t>Confusion Matrix</a:t>
            </a:r>
            <a:endParaRPr lang="en-GB" dirty="0"/>
          </a:p>
        </p:txBody>
      </p:sp>
      <p:sp>
        <p:nvSpPr>
          <p:cNvPr id="3" name="Content Placeholder 2">
            <a:extLst>
              <a:ext uri="{FF2B5EF4-FFF2-40B4-BE49-F238E27FC236}">
                <a16:creationId xmlns:a16="http://schemas.microsoft.com/office/drawing/2014/main" id="{ECEDC9EC-0D05-4500-85EE-64788E9E17F5}"/>
              </a:ext>
            </a:extLst>
          </p:cNvPr>
          <p:cNvSpPr>
            <a:spLocks noGrp="1"/>
          </p:cNvSpPr>
          <p:nvPr>
            <p:ph idx="1"/>
          </p:nvPr>
        </p:nvSpPr>
        <p:spPr/>
        <p:txBody>
          <a:bodyPr>
            <a:normAutofit/>
          </a:bodyPr>
          <a:lstStyle/>
          <a:p>
            <a:r>
              <a:rPr lang="en-US" sz="2400" b="0" i="0" dirty="0">
                <a:effectLst/>
                <a:latin typeface="Times New Roman" panose="02020603050405020304" pitchFamily="18" charset="0"/>
                <a:cs typeface="Times New Roman" panose="02020603050405020304" pitchFamily="18" charset="0"/>
              </a:rPr>
              <a:t>A confusion Matrix gives us a clearer picture of the types of errors the model makes, beyond accuracy alone</a:t>
            </a:r>
          </a:p>
          <a:p>
            <a:endParaRPr lang="en-GB" sz="24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4BC096C-4354-4C91-B156-AB6BE132C8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11386" y="3507632"/>
            <a:ext cx="5366703" cy="3238500"/>
          </a:xfrm>
          <a:prstGeom prst="rect">
            <a:avLst/>
          </a:prstGeom>
        </p:spPr>
      </p:pic>
    </p:spTree>
    <p:extLst>
      <p:ext uri="{BB962C8B-B14F-4D97-AF65-F5344CB8AC3E}">
        <p14:creationId xmlns:p14="http://schemas.microsoft.com/office/powerpoint/2010/main" val="5114157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B3064-1ACC-42CE-A23E-F55F67D55D3A}"/>
              </a:ext>
            </a:extLst>
          </p:cNvPr>
          <p:cNvSpPr>
            <a:spLocks noGrp="1"/>
          </p:cNvSpPr>
          <p:nvPr>
            <p:ph type="title"/>
          </p:nvPr>
        </p:nvSpPr>
        <p:spPr/>
        <p:txBody>
          <a:bodyPr/>
          <a:lstStyle/>
          <a:p>
            <a:r>
              <a:rPr lang="en-US" dirty="0"/>
              <a:t>Recommendation</a:t>
            </a:r>
            <a:endParaRPr lang="en-GB" dirty="0"/>
          </a:p>
        </p:txBody>
      </p:sp>
      <p:sp>
        <p:nvSpPr>
          <p:cNvPr id="3" name="Content Placeholder 2">
            <a:extLst>
              <a:ext uri="{FF2B5EF4-FFF2-40B4-BE49-F238E27FC236}">
                <a16:creationId xmlns:a16="http://schemas.microsoft.com/office/drawing/2014/main" id="{FFC87C87-4844-45DF-8CC2-E67D238C2879}"/>
              </a:ext>
            </a:extLst>
          </p:cNvPr>
          <p:cNvSpPr>
            <a:spLocks noGrp="1"/>
          </p:cNvSpPr>
          <p:nvPr>
            <p:ph idx="1"/>
          </p:nvPr>
        </p:nvSpPr>
        <p:spPr/>
        <p:txBody>
          <a:bodyPr>
            <a:normAutofit fontScale="85000" lnSpcReduction="20000"/>
          </a:bodyPr>
          <a:lstStyle/>
          <a:p>
            <a:pPr algn="l"/>
            <a:r>
              <a:rPr lang="en-US" sz="2400" b="0" i="0" dirty="0">
                <a:effectLst/>
                <a:latin typeface="Times New Roman" panose="02020603050405020304" pitchFamily="18" charset="0"/>
                <a:cs typeface="Times New Roman" panose="02020603050405020304" pitchFamily="18" charset="0"/>
              </a:rPr>
              <a:t>1.Target groups with low vaccination likelihood. Use the model to identify individuals or population groups who are less likely to receive the H1N1 vaccine, and </a:t>
            </a:r>
            <a:r>
              <a:rPr lang="en-US" sz="2400" b="0" i="0" dirty="0" err="1">
                <a:effectLst/>
                <a:latin typeface="Times New Roman" panose="02020603050405020304" pitchFamily="18" charset="0"/>
                <a:cs typeface="Times New Roman" panose="02020603050405020304" pitchFamily="18" charset="0"/>
              </a:rPr>
              <a:t>prioritise</a:t>
            </a:r>
            <a:r>
              <a:rPr lang="en-US" sz="2400" b="0" i="0" dirty="0">
                <a:effectLst/>
                <a:latin typeface="Times New Roman" panose="02020603050405020304" pitchFamily="18" charset="0"/>
                <a:cs typeface="Times New Roman" panose="02020603050405020304" pitchFamily="18" charset="0"/>
              </a:rPr>
              <a:t> them for awareness campaigns and outreach programs.</a:t>
            </a:r>
          </a:p>
          <a:p>
            <a:pPr algn="l"/>
            <a:r>
              <a:rPr lang="en-US" sz="2400" b="0" i="0" dirty="0">
                <a:effectLst/>
                <a:latin typeface="Times New Roman" panose="02020603050405020304" pitchFamily="18" charset="0"/>
                <a:cs typeface="Times New Roman" panose="02020603050405020304" pitchFamily="18" charset="0"/>
              </a:rPr>
              <a:t>2. Strengthen doctor recommendations. Since a doctor’s recommendation is likely a strong predictor of vaccine uptake, healthcare providers should be encouraged to recommend the H1N1 vaccine to eligible patients actively.</a:t>
            </a:r>
          </a:p>
          <a:p>
            <a:pPr algn="l"/>
            <a:r>
              <a:rPr lang="en-US" sz="2400" b="0" i="0" dirty="0">
                <a:effectLst/>
                <a:latin typeface="Times New Roman" panose="02020603050405020304" pitchFamily="18" charset="0"/>
                <a:cs typeface="Times New Roman" panose="02020603050405020304" pitchFamily="18" charset="0"/>
              </a:rPr>
              <a:t>3. Use data-driven vaccination strategies. The predictive model can help public health planners allocate resources more effectively by identifying high-risk groups, hesitant groups and regions or demographics with lower expected uptake</a:t>
            </a:r>
          </a:p>
          <a:p>
            <a:pPr algn="l"/>
            <a:r>
              <a:rPr lang="en-US" sz="2400" b="0" i="0" dirty="0">
                <a:effectLst/>
                <a:latin typeface="Times New Roman" panose="02020603050405020304" pitchFamily="18" charset="0"/>
                <a:cs typeface="Times New Roman" panose="02020603050405020304" pitchFamily="18" charset="0"/>
              </a:rPr>
              <a:t>4. Focus on recall when evaluating interventions. Because missing people who are unlikely to vaccinate can weaken intervention efforts, stakeholders should pay close attention to recall when choosing the best predictive model.</a:t>
            </a:r>
          </a:p>
          <a:p>
            <a:endParaRPr lang="en-GB" dirty="0"/>
          </a:p>
        </p:txBody>
      </p:sp>
    </p:spTree>
    <p:extLst>
      <p:ext uri="{BB962C8B-B14F-4D97-AF65-F5344CB8AC3E}">
        <p14:creationId xmlns:p14="http://schemas.microsoft.com/office/powerpoint/2010/main" val="2589540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CF0CA-2076-44B0-9B91-E445263A1EFD}"/>
              </a:ext>
            </a:extLst>
          </p:cNvPr>
          <p:cNvSpPr>
            <a:spLocks noGrp="1"/>
          </p:cNvSpPr>
          <p:nvPr>
            <p:ph type="title"/>
          </p:nvPr>
        </p:nvSpPr>
        <p:spPr/>
        <p:txBody>
          <a:bodyPr/>
          <a:lstStyle/>
          <a:p>
            <a:r>
              <a:rPr lang="en-US" dirty="0"/>
              <a:t>Conclusion</a:t>
            </a:r>
            <a:endParaRPr lang="en-GB" dirty="0"/>
          </a:p>
        </p:txBody>
      </p:sp>
      <p:sp>
        <p:nvSpPr>
          <p:cNvPr id="3" name="Content Placeholder 2">
            <a:extLst>
              <a:ext uri="{FF2B5EF4-FFF2-40B4-BE49-F238E27FC236}">
                <a16:creationId xmlns:a16="http://schemas.microsoft.com/office/drawing/2014/main" id="{1E947E1A-0D7B-4A10-8AE3-4EA5A313816C}"/>
              </a:ext>
            </a:extLst>
          </p:cNvPr>
          <p:cNvSpPr>
            <a:spLocks noGrp="1"/>
          </p:cNvSpPr>
          <p:nvPr>
            <p:ph idx="1"/>
          </p:nvPr>
        </p:nvSpPr>
        <p:spPr/>
        <p:txBody>
          <a:bodyPr>
            <a:normAutofit/>
          </a:bodyPr>
          <a:lstStyle/>
          <a:p>
            <a:r>
              <a:rPr lang="en-US" sz="2400" b="0" i="0" dirty="0">
                <a:effectLst/>
                <a:latin typeface="Times New Roman" panose="02020603050405020304" pitchFamily="18" charset="0"/>
                <a:cs typeface="Times New Roman" panose="02020603050405020304" pitchFamily="18" charset="0"/>
              </a:rPr>
              <a:t>This project developed a machine learning model to predict whether an individual received the </a:t>
            </a:r>
            <a:r>
              <a:rPr lang="en-US" sz="2400" b="0" i="1" dirty="0">
                <a:effectLst/>
                <a:latin typeface="Times New Roman" panose="02020603050405020304" pitchFamily="18" charset="0"/>
                <a:cs typeface="Times New Roman" panose="02020603050405020304" pitchFamily="18" charset="0"/>
              </a:rPr>
              <a:t>H1N1 vaccine</a:t>
            </a:r>
            <a:r>
              <a:rPr lang="en-US" sz="2400" b="0" i="0" dirty="0">
                <a:effectLst/>
                <a:latin typeface="Times New Roman" panose="02020603050405020304" pitchFamily="18" charset="0"/>
                <a:cs typeface="Times New Roman" panose="02020603050405020304" pitchFamily="18" charset="0"/>
              </a:rPr>
              <a:t> using survey data from the National 2009 H1N1 Flu Survey. The model helps public health stakeholders identify the factors that influence vaccine uptake and predict which groups are less likely to vaccinate. These insights can support targeted awareness campaigns, healthcare planning, and better vaccine distribution strategies.</a:t>
            </a:r>
            <a:endParaRPr lang="en-GB"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90640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27B6E-BB72-4BDE-87DC-E2276FC40700}"/>
              </a:ext>
            </a:extLst>
          </p:cNvPr>
          <p:cNvSpPr>
            <a:spLocks noGrp="1"/>
          </p:cNvSpPr>
          <p:nvPr>
            <p:ph type="ctrTitle"/>
          </p:nvPr>
        </p:nvSpPr>
        <p:spPr/>
        <p:txBody>
          <a:bodyPr/>
          <a:lstStyle/>
          <a:p>
            <a:r>
              <a:rPr lang="en-US" sz="8000" dirty="0">
                <a:latin typeface="Times New Roman" panose="02020603050405020304" pitchFamily="18" charset="0"/>
                <a:cs typeface="Times New Roman" panose="02020603050405020304" pitchFamily="18" charset="0"/>
              </a:rPr>
              <a:t>THANK YOU</a:t>
            </a:r>
            <a:endParaRPr lang="en-GB" sz="8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E5EF8B59-57C4-493E-8E22-FFD068CE55E4}"/>
              </a:ext>
            </a:extLst>
          </p:cNvPr>
          <p:cNvSpPr>
            <a:spLocks noGrp="1"/>
          </p:cNvSpPr>
          <p:nvPr>
            <p:ph type="subTitle" idx="1"/>
          </p:nvPr>
        </p:nvSpPr>
        <p:spPr>
          <a:xfrm flipH="1" flipV="1">
            <a:off x="625642" y="5638799"/>
            <a:ext cx="529313" cy="45719"/>
          </a:xfrm>
        </p:spPr>
        <p:txBody>
          <a:bodyPr>
            <a:normAutofit fontScale="25000" lnSpcReduction="20000"/>
          </a:bodyPr>
          <a:lstStyle/>
          <a:p>
            <a:r>
              <a:rPr lang="en-US" dirty="0"/>
              <a:t>       </a:t>
            </a:r>
            <a:endParaRPr lang="en-GB" dirty="0"/>
          </a:p>
        </p:txBody>
      </p:sp>
    </p:spTree>
    <p:extLst>
      <p:ext uri="{BB962C8B-B14F-4D97-AF65-F5344CB8AC3E}">
        <p14:creationId xmlns:p14="http://schemas.microsoft.com/office/powerpoint/2010/main" val="30466744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Facet</Template>
  <TotalTime>83</TotalTime>
  <Words>760</Words>
  <Application>Microsoft Office PowerPoint</Application>
  <PresentationFormat>Widescreen</PresentationFormat>
  <Paragraphs>56</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Century Gothic</vt:lpstr>
      <vt:lpstr>Times New Roman</vt:lpstr>
      <vt:lpstr>Wingdings 3</vt:lpstr>
      <vt:lpstr>Ion Boardroom</vt:lpstr>
      <vt:lpstr>H1N1-Vaccine Uptake Prediction</vt:lpstr>
      <vt:lpstr>Project Overview</vt:lpstr>
      <vt:lpstr>Problem Statement</vt:lpstr>
      <vt:lpstr>Business Understanding</vt:lpstr>
      <vt:lpstr>Stakeholder</vt:lpstr>
      <vt:lpstr>Data Understanding</vt:lpstr>
      <vt:lpstr>Data Preparation</vt:lpstr>
      <vt:lpstr>Exploratory Data Analysis(EDA)</vt:lpstr>
      <vt:lpstr>Key Insight from EDA</vt:lpstr>
      <vt:lpstr>Modeling Approach </vt:lpstr>
      <vt:lpstr>Confusion Matrix</vt:lpstr>
      <vt:lpstr>Recommendation</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H1N1-Vaccine Uptake Prediction</dc:title>
  <dc:creator>kipkemboifrankline98@gmail.com</dc:creator>
  <cp:lastModifiedBy>kipkemboifrankline98@gmail.com</cp:lastModifiedBy>
  <cp:revision>10</cp:revision>
  <dcterms:created xsi:type="dcterms:W3CDTF">2026-03-16T21:29:04Z</dcterms:created>
  <dcterms:modified xsi:type="dcterms:W3CDTF">2026-03-17T05:52:21Z</dcterms:modified>
</cp:coreProperties>
</file>